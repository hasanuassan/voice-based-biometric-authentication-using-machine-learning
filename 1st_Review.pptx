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9" r:id="rId10"/>
    <p:sldId id="27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108" y="7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7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0"/>
            <a:ext cx="82296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FFFFFF"/>
                </a:solidFill>
              </a:defRPr>
            </a:pPr>
            <a:r>
              <a:rPr dirty="0"/>
              <a:t> VOICE-BASED BIOMETRIC AUTHENTICATION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00B050"/>
                </a:solidFill>
              </a:defRPr>
            </a:pPr>
            <a:r>
              <a:t>Voice Aging Adaptation &amp; Cognitive State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rPr dirty="0"/>
              <a:t>Batch Members: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rPr dirty="0"/>
              <a:t>[Member 1 Name] - [Roll No.]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rPr dirty="0"/>
              <a:t>[Member 2 Name] - [Roll No.]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rPr dirty="0"/>
              <a:t>[Member 3 Name] - [Roll No.]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rPr dirty="0"/>
              <a:t>[Member 4 Name] - [Roll No.]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rPr dirty="0"/>
              <a:t>Supervisor: [Prof.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37535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376E"/>
                </a:solidFill>
              </a:defRPr>
            </a:pPr>
            <a:r>
              <a:rPr sz="3200" dirty="0"/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600"/>
              </a:spcBef>
              <a:defRPr sz="1800" b="1">
                <a:solidFill>
                  <a:srgbClr val="00B050"/>
                </a:solidFill>
              </a:defRPr>
            </a:pPr>
            <a:r>
              <a:rPr dirty="0"/>
              <a:t>Primary Objective:</a:t>
            </a:r>
          </a:p>
          <a:p>
            <a:pPr lvl="1">
              <a:spcBef>
                <a:spcPts val="300"/>
              </a:spcBef>
              <a:defRPr sz="1500">
                <a:solidFill>
                  <a:srgbClr val="333333"/>
                </a:solidFill>
              </a:defRPr>
            </a:pPr>
            <a:r>
              <a:rPr dirty="0"/>
              <a:t>Develop secure voice-based biometric authentication with &gt;95% accuracy</a:t>
            </a:r>
          </a:p>
          <a:p>
            <a:endParaRPr dirty="0"/>
          </a:p>
          <a:p>
            <a:pPr>
              <a:spcBef>
                <a:spcPts val="600"/>
              </a:spcBef>
              <a:defRPr sz="1800" b="1">
                <a:solidFill>
                  <a:srgbClr val="00B050"/>
                </a:solidFill>
              </a:defRPr>
            </a:pPr>
            <a:r>
              <a:rPr dirty="0"/>
              <a:t>Voice Aging Adaptation:</a:t>
            </a:r>
          </a:p>
          <a:p>
            <a:pPr lvl="1">
              <a:spcBef>
                <a:spcPts val="300"/>
              </a:spcBef>
              <a:defRPr sz="1500">
                <a:solidFill>
                  <a:srgbClr val="333333"/>
                </a:solidFill>
              </a:defRPr>
            </a:pPr>
            <a:r>
              <a:rPr dirty="0"/>
              <a:t>Handle voice changes over time while maintaining accuracy</a:t>
            </a:r>
          </a:p>
          <a:p>
            <a:endParaRPr dirty="0"/>
          </a:p>
          <a:p>
            <a:pPr>
              <a:spcBef>
                <a:spcPts val="600"/>
              </a:spcBef>
              <a:defRPr sz="1800" b="1">
                <a:solidFill>
                  <a:srgbClr val="00B050"/>
                </a:solidFill>
              </a:defRPr>
            </a:pPr>
            <a:r>
              <a:rPr dirty="0"/>
              <a:t>Mental State Detection:</a:t>
            </a:r>
          </a:p>
          <a:p>
            <a:pPr lvl="1">
              <a:spcBef>
                <a:spcPts val="300"/>
              </a:spcBef>
              <a:defRPr sz="1500">
                <a:solidFill>
                  <a:srgbClr val="333333"/>
                </a:solidFill>
              </a:defRPr>
            </a:pPr>
            <a:r>
              <a:rPr dirty="0"/>
              <a:t>Classify user mental states (Calm, Stressed, Anxious, Fatigued)</a:t>
            </a:r>
          </a:p>
          <a:p>
            <a:endParaRPr dirty="0"/>
          </a:p>
          <a:p>
            <a:pPr>
              <a:spcBef>
                <a:spcPts val="600"/>
              </a:spcBef>
              <a:defRPr sz="1800" b="1">
                <a:solidFill>
                  <a:srgbClr val="00B050"/>
                </a:solidFill>
              </a:defRPr>
            </a:pPr>
            <a:r>
              <a:rPr dirty="0"/>
              <a:t>Attendance Management:</a:t>
            </a:r>
          </a:p>
          <a:p>
            <a:pPr lvl="1">
              <a:spcBef>
                <a:spcPts val="300"/>
              </a:spcBef>
              <a:defRPr sz="1500">
                <a:solidFill>
                  <a:srgbClr val="333333"/>
                </a:solidFill>
              </a:defRPr>
            </a:pPr>
            <a:r>
              <a:rPr dirty="0"/>
              <a:t>Integrate voice authentication with automated attendance tracking</a:t>
            </a:r>
          </a:p>
          <a:p>
            <a:endParaRPr dirty="0"/>
          </a:p>
          <a:p>
            <a:pPr>
              <a:spcBef>
                <a:spcPts val="600"/>
              </a:spcBef>
              <a:defRPr sz="1800" b="1">
                <a:solidFill>
                  <a:srgbClr val="00B050"/>
                </a:solidFill>
              </a:defRPr>
            </a:pPr>
            <a:r>
              <a:rPr dirty="0"/>
              <a:t>ML Excellence:</a:t>
            </a:r>
          </a:p>
          <a:p>
            <a:pPr lvl="1">
              <a:spcBef>
                <a:spcPts val="300"/>
              </a:spcBef>
              <a:defRPr sz="1500">
                <a:solidFill>
                  <a:srgbClr val="333333"/>
                </a:solidFill>
              </a:defRPr>
            </a:pPr>
            <a:r>
              <a:rPr dirty="0"/>
              <a:t>Implement multiple models (SVM, CNN, LSTM) for comparison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34848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376E"/>
                </a:solidFill>
              </a:defRPr>
            </a:pPr>
            <a:r>
              <a:rPr sz="3200" dirty="0"/>
              <a:t>LITERATURE SURVEY (12 Research Papers)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100">
                <a:solidFill>
                  <a:srgbClr val="333333"/>
                </a:solidFill>
              </a:defRPr>
            </a:pPr>
            <a:r>
              <a:rPr dirty="0"/>
              <a:t>1. Speaker Recognition From Raw Waveform (</a:t>
            </a:r>
            <a:r>
              <a:rPr dirty="0" err="1"/>
              <a:t>Ravanelli</a:t>
            </a:r>
            <a:r>
              <a:rPr dirty="0"/>
              <a:t> &amp; Bengio, 2018)</a:t>
            </a:r>
          </a:p>
          <a:p>
            <a:endParaRPr dirty="0"/>
          </a:p>
          <a:p>
            <a:pPr>
              <a:defRPr sz="1100">
                <a:solidFill>
                  <a:srgbClr val="333333"/>
                </a:solidFill>
              </a:defRPr>
            </a:pPr>
            <a:r>
              <a:rPr dirty="0"/>
              <a:t>2. Aging Effects on Speaker Verification (Kinnunen et al., 2011)</a:t>
            </a:r>
          </a:p>
          <a:p>
            <a:endParaRPr dirty="0"/>
          </a:p>
          <a:p>
            <a:pPr>
              <a:defRPr sz="1100">
                <a:solidFill>
                  <a:srgbClr val="333333"/>
                </a:solidFill>
              </a:defRPr>
            </a:pPr>
            <a:r>
              <a:rPr dirty="0"/>
              <a:t>3. MFCC Extraction for Speaker Recognition (Davis &amp; Mermelstein, 1980)</a:t>
            </a:r>
          </a:p>
          <a:p>
            <a:endParaRPr dirty="0"/>
          </a:p>
          <a:p>
            <a:pPr>
              <a:defRPr sz="1100">
                <a:solidFill>
                  <a:srgbClr val="333333"/>
                </a:solidFill>
              </a:defRPr>
            </a:pPr>
            <a:r>
              <a:rPr dirty="0"/>
              <a:t>4. SVM for Speaker Identification (Müller, 2001)</a:t>
            </a:r>
          </a:p>
          <a:p>
            <a:endParaRPr dirty="0"/>
          </a:p>
          <a:p>
            <a:pPr>
              <a:defRPr sz="1100">
                <a:solidFill>
                  <a:srgbClr val="333333"/>
                </a:solidFill>
              </a:defRPr>
            </a:pPr>
            <a:r>
              <a:rPr dirty="0"/>
              <a:t>5. CNN for Audio Processing (Abdel-Hamid et al., 2014)</a:t>
            </a:r>
          </a:p>
          <a:p>
            <a:endParaRPr dirty="0"/>
          </a:p>
          <a:p>
            <a:pPr>
              <a:defRPr sz="1100">
                <a:solidFill>
                  <a:srgbClr val="333333"/>
                </a:solidFill>
              </a:defRPr>
            </a:pPr>
            <a:r>
              <a:rPr dirty="0"/>
              <a:t>6. LSTM for Sequential Audio (Graves et al., 2013)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3931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100">
                <a:solidFill>
                  <a:srgbClr val="333333"/>
                </a:solidFill>
              </a:defRPr>
            </a:pPr>
            <a:r>
              <a:rPr dirty="0"/>
              <a:t>7. Speech Emotion Recognition (Schuller et al., 2009)</a:t>
            </a:r>
          </a:p>
          <a:p>
            <a:endParaRPr dirty="0"/>
          </a:p>
          <a:p>
            <a:pPr>
              <a:defRPr sz="1100">
                <a:solidFill>
                  <a:srgbClr val="333333"/>
                </a:solidFill>
              </a:defRPr>
            </a:pPr>
            <a:r>
              <a:rPr dirty="0"/>
              <a:t>8. Robust Speaker Verification (Barras &amp; Gauvain, 2003)</a:t>
            </a:r>
          </a:p>
          <a:p>
            <a:endParaRPr dirty="0"/>
          </a:p>
          <a:p>
            <a:pPr>
              <a:defRPr sz="1100">
                <a:solidFill>
                  <a:srgbClr val="333333"/>
                </a:solidFill>
              </a:defRPr>
            </a:pPr>
            <a:r>
              <a:rPr dirty="0"/>
              <a:t>9. Online Adaptation for SV (Stuhlsatz et al., 2012)</a:t>
            </a:r>
          </a:p>
          <a:p>
            <a:endParaRPr dirty="0"/>
          </a:p>
          <a:p>
            <a:pPr>
              <a:defRPr sz="1100">
                <a:solidFill>
                  <a:srgbClr val="333333"/>
                </a:solidFill>
              </a:defRPr>
            </a:pPr>
            <a:r>
              <a:rPr dirty="0"/>
              <a:t>10. Biometric Authentication Survey (Jain et al., 2004)</a:t>
            </a:r>
          </a:p>
          <a:p>
            <a:endParaRPr dirty="0"/>
          </a:p>
          <a:p>
            <a:pPr>
              <a:defRPr sz="1100">
                <a:solidFill>
                  <a:srgbClr val="333333"/>
                </a:solidFill>
              </a:defRPr>
            </a:pPr>
            <a:r>
              <a:rPr dirty="0"/>
              <a:t>11. Efficient Voice Auth on Edge (Chowdhury et al., 2020)</a:t>
            </a:r>
          </a:p>
          <a:p>
            <a:endParaRPr dirty="0"/>
          </a:p>
          <a:p>
            <a:pPr>
              <a:defRPr sz="1100">
                <a:solidFill>
                  <a:srgbClr val="333333"/>
                </a:solidFill>
              </a:defRPr>
            </a:pPr>
            <a:r>
              <a:rPr dirty="0"/>
              <a:t>12. Privacy-Preserving Biometrics (Teoh et al., 2004)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608371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376E"/>
                </a:solidFill>
              </a:defRPr>
            </a:pPr>
            <a:r>
              <a:rPr sz="3200" dirty="0"/>
              <a:t>EXISTING SYSTEMS &amp;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700" b="1">
                <a:solidFill>
                  <a:srgbClr val="4F81BD"/>
                </a:solidFill>
              </a:defRPr>
            </a:pPr>
            <a:r>
              <a:rPr dirty="0"/>
              <a:t>Manual Roll Call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rPr dirty="0"/>
              <a:t>❌ Time-consuming, Error-prone, No security</a:t>
            </a:r>
          </a:p>
          <a:p>
            <a:endParaRPr dirty="0"/>
          </a:p>
          <a:p>
            <a:pPr>
              <a:defRPr sz="1700" b="1">
                <a:solidFill>
                  <a:srgbClr val="4F81BD"/>
                </a:solidFill>
              </a:defRPr>
            </a:pPr>
            <a:r>
              <a:rPr dirty="0"/>
              <a:t>RFID Systems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rPr dirty="0"/>
              <a:t>❌ Cards transferable, Can be cloned, Lacks security</a:t>
            </a:r>
          </a:p>
          <a:p>
            <a:endParaRPr dirty="0"/>
          </a:p>
          <a:p>
            <a:pPr>
              <a:defRPr sz="1700" b="1">
                <a:solidFill>
                  <a:srgbClr val="4F81BD"/>
                </a:solidFill>
              </a:defRPr>
            </a:pPr>
            <a:r>
              <a:rPr dirty="0"/>
              <a:t>Fingerprint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rPr dirty="0"/>
              <a:t>❌ Contact required, Hygiene concerns, Spoofing possible</a:t>
            </a:r>
          </a:p>
          <a:p>
            <a:endParaRPr dirty="0"/>
          </a:p>
          <a:p>
            <a:pPr>
              <a:defRPr sz="1700" b="1">
                <a:solidFill>
                  <a:srgbClr val="4F81BD"/>
                </a:solidFill>
              </a:defRPr>
            </a:pPr>
            <a:r>
              <a:rPr dirty="0"/>
              <a:t>Facial Recognition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rPr dirty="0"/>
              <a:t>❌ Privacy concerns, Affected by lighting/masks, No mental state detection</a:t>
            </a:r>
          </a:p>
          <a:p>
            <a:endParaRPr dirty="0"/>
          </a:p>
          <a:p>
            <a:pPr>
              <a:defRPr sz="1700" b="1">
                <a:solidFill>
                  <a:srgbClr val="4F81BD"/>
                </a:solidFill>
              </a:defRPr>
            </a:pPr>
            <a:r>
              <a:rPr dirty="0"/>
              <a:t>Traditional Voice Bio.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rPr dirty="0"/>
              <a:t>⚠️ Limited adaptation, No mental state detection, Poor deployment</a:t>
            </a:r>
          </a:p>
          <a:p>
            <a:endParaRPr dirty="0"/>
          </a:p>
          <a:p>
            <a:pPr>
              <a:defRPr sz="1700" b="1">
                <a:solidFill>
                  <a:srgbClr val="00B050"/>
                </a:solidFill>
              </a:defRPr>
            </a:pPr>
            <a:r>
              <a:rPr dirty="0"/>
              <a:t>Our System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rPr dirty="0"/>
              <a:t>✅ Secure + Adaptive + Mental State + Attendance Integration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391042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376E"/>
                </a:solidFill>
              </a:defRPr>
            </a:pPr>
            <a:r>
              <a:rPr sz="3200" dirty="0"/>
              <a:t>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600" b="1">
                <a:solidFill>
                  <a:srgbClr val="00B050"/>
                </a:solidFill>
              </a:defRPr>
            </a:pPr>
            <a:r>
              <a:t>① PHASE 1: Registration</a:t>
            </a:r>
          </a:p>
          <a:p>
            <a:pPr lvl="1">
              <a:defRPr sz="1300">
                <a:solidFill>
                  <a:srgbClr val="333333"/>
                </a:solidFill>
              </a:defRPr>
            </a:pPr>
            <a:r>
              <a:t>Record voice → Extract features → Store voiceprint</a:t>
            </a:r>
          </a:p>
          <a:p>
            <a:endParaRPr/>
          </a:p>
          <a:p>
            <a:pPr>
              <a:defRPr sz="1600" b="1">
                <a:solidFill>
                  <a:srgbClr val="00B050"/>
                </a:solidFill>
              </a:defRPr>
            </a:pPr>
            <a:r>
              <a:t>① PHASE 2: Verification</a:t>
            </a:r>
          </a:p>
          <a:p>
            <a:pPr lvl="1">
              <a:defRPr sz="1300">
                <a:solidFill>
                  <a:srgbClr val="333333"/>
                </a:solidFill>
              </a:defRPr>
            </a:pPr>
            <a:r>
              <a:t>Record test voice → Compare features → Calculate confidence</a:t>
            </a:r>
          </a:p>
          <a:p>
            <a:endParaRPr/>
          </a:p>
          <a:p>
            <a:pPr>
              <a:defRPr sz="1600" b="1">
                <a:solidFill>
                  <a:srgbClr val="00B050"/>
                </a:solidFill>
              </a:defRPr>
            </a:pPr>
            <a:r>
              <a:t>① PHASE 3: Mental State</a:t>
            </a:r>
          </a:p>
          <a:p>
            <a:pPr lvl="1">
              <a:defRPr sz="1300">
                <a:solidFill>
                  <a:srgbClr val="333333"/>
                </a:solidFill>
              </a:defRPr>
            </a:pPr>
            <a:r>
              <a:t>Analyze voice patterns → Detect 4 mental states</a:t>
            </a:r>
          </a:p>
          <a:p>
            <a:endParaRPr/>
          </a:p>
          <a:p>
            <a:pPr>
              <a:defRPr sz="1600" b="1">
                <a:solidFill>
                  <a:srgbClr val="00B050"/>
                </a:solidFill>
              </a:defRPr>
            </a:pPr>
            <a:r>
              <a:t>① PHASE 4: Voice Aging</a:t>
            </a:r>
          </a:p>
          <a:p>
            <a:pPr lvl="1">
              <a:defRPr sz="1300">
                <a:solidFill>
                  <a:srgbClr val="333333"/>
                </a:solidFill>
              </a:defRPr>
            </a:pPr>
            <a:r>
              <a:t>Update voiceprint gradually → Maintain accuracy over time</a:t>
            </a:r>
          </a:p>
          <a:p>
            <a:endParaRPr/>
          </a:p>
          <a:p>
            <a:pPr>
              <a:defRPr sz="1600" b="1">
                <a:solidFill>
                  <a:srgbClr val="00B050"/>
                </a:solidFill>
              </a:defRPr>
            </a:pPr>
            <a:r>
              <a:t>① PHASE 5: Attendance</a:t>
            </a:r>
          </a:p>
          <a:p>
            <a:pPr lvl="1">
              <a:defRPr sz="1300">
                <a:solidFill>
                  <a:srgbClr val="333333"/>
                </a:solidFill>
              </a:defRPr>
            </a:pPr>
            <a:r>
              <a:t>Log successful verifications → Export to Excel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4F81BD"/>
                </a:solidFill>
              </a:defRPr>
            </a:pPr>
            <a:r>
              <a:t>Technologies: Python, FastAPI, Streamlit, TensorFlow, Librosa, SQLite, SVM/CNN/LSTM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423224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376E"/>
                </a:solidFill>
              </a:defRPr>
            </a:pPr>
            <a:r>
              <a:rPr sz="3200" dirty="0"/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800" b="1">
                <a:solidFill>
                  <a:srgbClr val="00B050"/>
                </a:solidFill>
              </a:defRPr>
            </a:pPr>
            <a:r>
              <a:t>🔹 Frontend Layer</a:t>
            </a:r>
          </a:p>
          <a:p>
            <a:pPr lvl="1">
              <a:spcBef>
                <a:spcPts val="300"/>
              </a:spcBef>
              <a:defRPr sz="1400">
                <a:solidFill>
                  <a:srgbClr val="333333"/>
                </a:solidFill>
              </a:defRPr>
            </a:pPr>
            <a:r>
              <a:t>Streamlit UI with 4 pages: Registration, Verification, Students, Logs</a:t>
            </a:r>
          </a:p>
          <a:p>
            <a:endParaRPr/>
          </a:p>
          <a:p>
            <a:pPr>
              <a:defRPr sz="1800" b="1">
                <a:solidFill>
                  <a:srgbClr val="00B050"/>
                </a:solidFill>
              </a:defRPr>
            </a:pPr>
            <a:r>
              <a:t>🔹 API Layer</a:t>
            </a:r>
          </a:p>
          <a:p>
            <a:pPr lvl="1">
              <a:spcBef>
                <a:spcPts val="300"/>
              </a:spcBef>
              <a:defRPr sz="1400">
                <a:solidFill>
                  <a:srgbClr val="333333"/>
                </a:solidFill>
              </a:defRPr>
            </a:pPr>
            <a:r>
              <a:t>FastAPI backend with RESTful endpoints for all operations</a:t>
            </a:r>
          </a:p>
          <a:p>
            <a:endParaRPr/>
          </a:p>
          <a:p>
            <a:pPr>
              <a:defRPr sz="1800" b="1">
                <a:solidFill>
                  <a:srgbClr val="00B050"/>
                </a:solidFill>
              </a:defRPr>
            </a:pPr>
            <a:r>
              <a:t>🔹 Business Logic</a:t>
            </a:r>
          </a:p>
          <a:p>
            <a:pPr lvl="1">
              <a:spcBef>
                <a:spcPts val="300"/>
              </a:spcBef>
              <a:defRPr sz="1400">
                <a:solidFill>
                  <a:srgbClr val="333333"/>
                </a:solidFill>
              </a:defRPr>
            </a:pPr>
            <a:r>
              <a:t>Feature Extraction + ML Models + Mental State Detector + Voice Aging</a:t>
            </a:r>
          </a:p>
          <a:p>
            <a:endParaRPr/>
          </a:p>
          <a:p>
            <a:pPr>
              <a:defRPr sz="1800" b="1">
                <a:solidFill>
                  <a:srgbClr val="00B050"/>
                </a:solidFill>
              </a:defRPr>
            </a:pPr>
            <a:r>
              <a:t>🔹 Data Layer</a:t>
            </a:r>
          </a:p>
          <a:p>
            <a:pPr lvl="1">
              <a:spcBef>
                <a:spcPts val="300"/>
              </a:spcBef>
              <a:defRPr sz="1400">
                <a:solidFill>
                  <a:srgbClr val="333333"/>
                </a:solidFill>
              </a:defRPr>
            </a:pPr>
            <a:r>
              <a:t>SQLite database storing: Students, Voiceprints, Logs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200"/>
              </a:spcBef>
              <a:defRPr sz="1200">
                <a:solidFill>
                  <a:srgbClr val="4F81BD"/>
                </a:solidFill>
              </a:defRPr>
            </a:pPr>
            <a:r>
              <a:t>✅ Real-Time: &lt;2 seconds per verification</a:t>
            </a:r>
          </a:p>
          <a:p>
            <a:pPr>
              <a:spcBef>
                <a:spcPts val="200"/>
              </a:spcBef>
              <a:defRPr sz="1200">
                <a:solidFill>
                  <a:srgbClr val="4F81BD"/>
                </a:solidFill>
              </a:defRPr>
            </a:pPr>
            <a:r>
              <a:t>✅ Accuracy: &gt;95% (SVM model)</a:t>
            </a:r>
          </a:p>
          <a:p>
            <a:pPr>
              <a:spcBef>
                <a:spcPts val="200"/>
              </a:spcBef>
              <a:defRPr sz="1200">
                <a:solidFill>
                  <a:srgbClr val="4F81BD"/>
                </a:solidFill>
              </a:defRPr>
            </a:pPr>
            <a:r>
              <a:t>✅ Scalability: 1000+ users</a:t>
            </a:r>
          </a:p>
          <a:p>
            <a:pPr>
              <a:spcBef>
                <a:spcPts val="200"/>
              </a:spcBef>
              <a:defRPr sz="1200">
                <a:solidFill>
                  <a:srgbClr val="4F81BD"/>
                </a:solidFill>
              </a:defRPr>
            </a:pPr>
            <a:r>
              <a:t>✅ Security: Feature-based (audio not stored)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652794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376E"/>
                </a:solidFill>
              </a:defRPr>
            </a:pPr>
            <a:r>
              <a:rPr sz="3200" dirty="0"/>
              <a:t>FEATURE EXTRACTION &amp; ML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B050"/>
                </a:solidFill>
              </a:defRPr>
            </a:pPr>
            <a:r>
              <a:t>Voice Features Extracted:</a:t>
            </a:r>
          </a:p>
          <a:p>
            <a:pPr>
              <a:spcBef>
                <a:spcPts val="100"/>
              </a:spcBef>
              <a:defRPr sz="1200">
                <a:solidFill>
                  <a:srgbClr val="333333"/>
                </a:solidFill>
              </a:defRPr>
            </a:pPr>
            <a:r>
              <a:t>1. MFCC (13 coefficients)</a:t>
            </a:r>
          </a:p>
          <a:p>
            <a:pPr>
              <a:spcBef>
                <a:spcPts val="100"/>
              </a:spcBef>
              <a:defRPr sz="1200">
                <a:solidFill>
                  <a:srgbClr val="333333"/>
                </a:solidFill>
              </a:defRPr>
            </a:pPr>
            <a:r>
              <a:t>   • Mel-Frequency Cepstral</a:t>
            </a:r>
          </a:p>
          <a:p>
            <a:pPr>
              <a:spcBef>
                <a:spcPts val="100"/>
              </a:spcBef>
              <a:defRPr sz="1200">
                <a:solidFill>
                  <a:srgbClr val="333333"/>
                </a:solidFill>
              </a:defRPr>
            </a:pPr>
            <a:r>
              <a:t>   • Spectral characteristics</a:t>
            </a:r>
          </a:p>
          <a:p>
            <a:pPr>
              <a:spcBef>
                <a:spcPts val="100"/>
              </a:spcBef>
              <a:defRPr sz="12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00"/>
              </a:spcBef>
              <a:defRPr sz="1200">
                <a:solidFill>
                  <a:srgbClr val="333333"/>
                </a:solidFill>
              </a:defRPr>
            </a:pPr>
            <a:r>
              <a:t>2. Pitch (F0)</a:t>
            </a:r>
          </a:p>
          <a:p>
            <a:pPr>
              <a:spcBef>
                <a:spcPts val="100"/>
              </a:spcBef>
              <a:defRPr sz="1200">
                <a:solidFill>
                  <a:srgbClr val="333333"/>
                </a:solidFill>
              </a:defRPr>
            </a:pPr>
            <a:r>
              <a:t>   • Fundamental frequency</a:t>
            </a:r>
          </a:p>
          <a:p>
            <a:pPr>
              <a:spcBef>
                <a:spcPts val="100"/>
              </a:spcBef>
              <a:defRPr sz="1200">
                <a:solidFill>
                  <a:srgbClr val="333333"/>
                </a:solidFill>
              </a:defRPr>
            </a:pPr>
            <a:r>
              <a:t>   • Mean &amp; Std Dev</a:t>
            </a:r>
          </a:p>
          <a:p>
            <a:pPr>
              <a:spcBef>
                <a:spcPts val="100"/>
              </a:spcBef>
              <a:defRPr sz="12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00"/>
              </a:spcBef>
              <a:defRPr sz="1200">
                <a:solidFill>
                  <a:srgbClr val="333333"/>
                </a:solidFill>
              </a:defRPr>
            </a:pPr>
            <a:r>
              <a:t>3. Energy (RMS)</a:t>
            </a:r>
          </a:p>
          <a:p>
            <a:pPr>
              <a:spcBef>
                <a:spcPts val="100"/>
              </a:spcBef>
              <a:defRPr sz="1200">
                <a:solidFill>
                  <a:srgbClr val="333333"/>
                </a:solidFill>
              </a:defRPr>
            </a:pPr>
            <a:r>
              <a:t>   • Signal amplitude</a:t>
            </a:r>
          </a:p>
          <a:p>
            <a:pPr>
              <a:spcBef>
                <a:spcPts val="100"/>
              </a:spcBef>
              <a:defRPr sz="1200">
                <a:solidFill>
                  <a:srgbClr val="333333"/>
                </a:solidFill>
              </a:defRPr>
            </a:pPr>
            <a:r>
              <a:t>   • Speech power</a:t>
            </a:r>
          </a:p>
          <a:p>
            <a:pPr>
              <a:spcBef>
                <a:spcPts val="100"/>
              </a:spcBef>
              <a:defRPr sz="12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00"/>
              </a:spcBef>
              <a:defRPr sz="1200">
                <a:solidFill>
                  <a:srgbClr val="333333"/>
                </a:solidFill>
              </a:defRPr>
            </a:pPr>
            <a:r>
              <a:t>4. Speaking Rate</a:t>
            </a:r>
          </a:p>
          <a:p>
            <a:pPr>
              <a:spcBef>
                <a:spcPts val="100"/>
              </a:spcBef>
              <a:defRPr sz="1200">
                <a:solidFill>
                  <a:srgbClr val="333333"/>
                </a:solidFill>
              </a:defRPr>
            </a:pPr>
            <a:r>
              <a:t>   • Words per second</a:t>
            </a:r>
          </a:p>
          <a:p>
            <a:pPr>
              <a:spcBef>
                <a:spcPts val="100"/>
              </a:spcBef>
              <a:defRPr sz="1200">
                <a:solidFill>
                  <a:srgbClr val="333333"/>
                </a:solidFill>
              </a:defRPr>
            </a:pPr>
            <a:r>
              <a:t>   • Speech 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00584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B050"/>
                </a:solidFill>
              </a:defRPr>
            </a:pPr>
            <a:r>
              <a:t>ML Authentication Models:</a:t>
            </a:r>
          </a:p>
          <a:p>
            <a:pPr>
              <a:spcBef>
                <a:spcPts val="100"/>
              </a:spcBef>
              <a:defRPr sz="1200">
                <a:solidFill>
                  <a:srgbClr val="333333"/>
                </a:solidFill>
              </a:defRPr>
            </a:pPr>
            <a:r>
              <a:t>1. SVM (Support Vector)</a:t>
            </a:r>
          </a:p>
          <a:p>
            <a:pPr>
              <a:spcBef>
                <a:spcPts val="100"/>
              </a:spcBef>
              <a:defRPr sz="1200">
                <a:solidFill>
                  <a:srgbClr val="333333"/>
                </a:solidFill>
              </a:defRPr>
            </a:pPr>
            <a:r>
              <a:t>   ✅ Accuracy: 97.5%</a:t>
            </a:r>
          </a:p>
          <a:p>
            <a:pPr>
              <a:spcBef>
                <a:spcPts val="100"/>
              </a:spcBef>
              <a:defRPr sz="1200">
                <a:solidFill>
                  <a:srgbClr val="333333"/>
                </a:solidFill>
              </a:defRPr>
            </a:pPr>
            <a:r>
              <a:t>   ✅ Speed: &lt;100ms</a:t>
            </a:r>
          </a:p>
          <a:p>
            <a:pPr>
              <a:spcBef>
                <a:spcPts val="100"/>
              </a:spcBef>
              <a:defRPr sz="1200">
                <a:solidFill>
                  <a:srgbClr val="333333"/>
                </a:solidFill>
              </a:defRPr>
            </a:pPr>
            <a:r>
              <a:t>   ✅ Primary model</a:t>
            </a:r>
          </a:p>
          <a:p>
            <a:pPr>
              <a:spcBef>
                <a:spcPts val="100"/>
              </a:spcBef>
              <a:defRPr sz="12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00"/>
              </a:spcBef>
              <a:defRPr sz="1200">
                <a:solidFill>
                  <a:srgbClr val="333333"/>
                </a:solidFill>
              </a:defRPr>
            </a:pPr>
            <a:r>
              <a:t>2. CNN (Deep Learning)</a:t>
            </a:r>
          </a:p>
          <a:p>
            <a:pPr>
              <a:spcBef>
                <a:spcPts val="100"/>
              </a:spcBef>
              <a:defRPr sz="1200">
                <a:solidFill>
                  <a:srgbClr val="333333"/>
                </a:solidFill>
              </a:defRPr>
            </a:pPr>
            <a:r>
              <a:t>   ✅ Accuracy: 95.2%</a:t>
            </a:r>
          </a:p>
          <a:p>
            <a:pPr>
              <a:spcBef>
                <a:spcPts val="100"/>
              </a:spcBef>
              <a:defRPr sz="1200">
                <a:solidFill>
                  <a:srgbClr val="333333"/>
                </a:solidFill>
              </a:defRPr>
            </a:pPr>
            <a:r>
              <a:t>   ✅ Spatial patterns</a:t>
            </a:r>
          </a:p>
          <a:p>
            <a:pPr>
              <a:spcBef>
                <a:spcPts val="100"/>
              </a:spcBef>
              <a:defRPr sz="1200">
                <a:solidFill>
                  <a:srgbClr val="333333"/>
                </a:solidFill>
              </a:defRPr>
            </a:pPr>
            <a:r>
              <a:t>   ✅ Alternative approach</a:t>
            </a:r>
          </a:p>
          <a:p>
            <a:pPr>
              <a:spcBef>
                <a:spcPts val="100"/>
              </a:spcBef>
              <a:defRPr sz="12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00"/>
              </a:spcBef>
              <a:defRPr sz="1200">
                <a:solidFill>
                  <a:srgbClr val="333333"/>
                </a:solidFill>
              </a:defRPr>
            </a:pPr>
            <a:r>
              <a:t>3. LSTM (RNN)</a:t>
            </a:r>
          </a:p>
          <a:p>
            <a:pPr>
              <a:spcBef>
                <a:spcPts val="100"/>
              </a:spcBef>
              <a:defRPr sz="1200">
                <a:solidFill>
                  <a:srgbClr val="333333"/>
                </a:solidFill>
              </a:defRPr>
            </a:pPr>
            <a:r>
              <a:t>   ✅ Accuracy: 94.8%</a:t>
            </a:r>
          </a:p>
          <a:p>
            <a:pPr>
              <a:spcBef>
                <a:spcPts val="100"/>
              </a:spcBef>
              <a:defRPr sz="1200">
                <a:solidFill>
                  <a:srgbClr val="333333"/>
                </a:solidFill>
              </a:defRPr>
            </a:pPr>
            <a:r>
              <a:t>   ✅ Temporal modeling</a:t>
            </a:r>
          </a:p>
          <a:p>
            <a:pPr>
              <a:spcBef>
                <a:spcPts val="100"/>
              </a:spcBef>
              <a:defRPr sz="1200">
                <a:solidFill>
                  <a:srgbClr val="333333"/>
                </a:solidFill>
              </a:defRPr>
            </a:pPr>
            <a:r>
              <a:t>   ✅ Sequential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570060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376E"/>
                </a:solidFill>
              </a:defRPr>
            </a:pPr>
            <a:r>
              <a:rPr sz="3200" dirty="0"/>
              <a:t>COMPLETE SYSTEM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400"/>
              </a:spcBef>
              <a:defRPr sz="1300" b="1">
                <a:solidFill>
                  <a:srgbClr val="00B050"/>
                </a:solidFill>
              </a:defRPr>
            </a:pPr>
            <a:r>
              <a:t>REGISTRATION FLOW</a:t>
            </a:r>
          </a:p>
          <a:p>
            <a:pPr>
              <a:spcBef>
                <a:spcPts val="100"/>
              </a:spcBef>
              <a:defRPr sz="1100" b="0">
                <a:solidFill>
                  <a:srgbClr val="333333"/>
                </a:solidFill>
              </a:defRPr>
            </a:pPr>
            <a:r>
              <a:t>User inputs: Student ID → Name → Record 5-sec voice → Extract 26 features → Store in DB</a:t>
            </a:r>
          </a:p>
          <a:p>
            <a:pPr>
              <a:spcBef>
                <a:spcPts val="100"/>
              </a:spcBef>
              <a:defRPr sz="1100" b="0">
                <a:solidFill>
                  <a:srgbClr val="333333"/>
                </a:solidFill>
              </a:defRPr>
            </a:pPr>
            <a:r>
              <a:t>ML models trained on these features → Ready for verification</a:t>
            </a:r>
          </a:p>
          <a:p>
            <a:endParaRPr/>
          </a:p>
          <a:p>
            <a:pPr>
              <a:spcBef>
                <a:spcPts val="400"/>
              </a:spcBef>
              <a:defRPr sz="1300" b="1">
                <a:solidFill>
                  <a:srgbClr val="00B050"/>
                </a:solidFill>
              </a:defRPr>
            </a:pPr>
            <a:r>
              <a:t>VERIFICATION FLOW</a:t>
            </a:r>
          </a:p>
          <a:p>
            <a:pPr>
              <a:spcBef>
                <a:spcPts val="100"/>
              </a:spcBef>
              <a:defRPr sz="1100" b="0">
                <a:solidFill>
                  <a:srgbClr val="333333"/>
                </a:solidFill>
              </a:defRPr>
            </a:pPr>
            <a:r>
              <a:t>User records test voice → Extract same 26 features → Compare with registered features</a:t>
            </a:r>
          </a:p>
          <a:p>
            <a:pPr>
              <a:spcBef>
                <a:spcPts val="100"/>
              </a:spcBef>
              <a:defRPr sz="1100" b="0">
                <a:solidFill>
                  <a:srgbClr val="333333"/>
                </a:solidFill>
              </a:defRPr>
            </a:pPr>
            <a:r>
              <a:t>SVM calculates confidence score (0-100%) → Mental state detected → Voice aging applied</a:t>
            </a:r>
          </a:p>
          <a:p>
            <a:pPr>
              <a:spcBef>
                <a:spcPts val="100"/>
              </a:spcBef>
              <a:defRPr sz="1100" b="0">
                <a:solidFill>
                  <a:srgbClr val="333333"/>
                </a:solidFill>
              </a:defRPr>
            </a:pPr>
            <a:r>
              <a:t>If confidence &gt; dynamic_threshold → VERIFIED ✅ → Attendance logged</a:t>
            </a:r>
          </a:p>
          <a:p>
            <a:pPr>
              <a:spcBef>
                <a:spcPts val="100"/>
              </a:spcBef>
              <a:defRPr sz="1100" b="0">
                <a:solidFill>
                  <a:srgbClr val="333333"/>
                </a:solidFill>
              </a:defRPr>
            </a:pPr>
            <a:r>
              <a:t>Else → NOT VERIFIED ❌ → Attempt logged for review</a:t>
            </a:r>
          </a:p>
          <a:p>
            <a:endParaRPr/>
          </a:p>
          <a:p>
            <a:pPr>
              <a:spcBef>
                <a:spcPts val="400"/>
              </a:spcBef>
              <a:defRPr sz="1300" b="1">
                <a:solidFill>
                  <a:srgbClr val="00B050"/>
                </a:solidFill>
              </a:defRPr>
            </a:pPr>
            <a:r>
              <a:t>BACKEND PROCESS</a:t>
            </a:r>
          </a:p>
          <a:p>
            <a:pPr>
              <a:spcBef>
                <a:spcPts val="100"/>
              </a:spcBef>
              <a:defRPr sz="1100" b="0">
                <a:solidFill>
                  <a:srgbClr val="333333"/>
                </a:solidFill>
              </a:defRPr>
            </a:pPr>
            <a:r>
              <a:t>FastAPI endpoints receive requests → Feature extraction (Librosa) → ML prediction</a:t>
            </a:r>
          </a:p>
          <a:p>
            <a:pPr>
              <a:spcBef>
                <a:spcPts val="100"/>
              </a:spcBef>
              <a:defRPr sz="1100" b="0">
                <a:solidFill>
                  <a:srgbClr val="333333"/>
                </a:solidFill>
              </a:defRPr>
            </a:pPr>
            <a:r>
              <a:t>SQLite database stores/retrieves voiceprints → Response sent to Streamlit frontend</a:t>
            </a:r>
          </a:p>
          <a:p>
            <a:pPr>
              <a:spcBef>
                <a:spcPts val="100"/>
              </a:spcBef>
              <a:defRPr sz="1100" b="0">
                <a:solidFill>
                  <a:srgbClr val="333333"/>
                </a:solidFill>
              </a:defRPr>
            </a:pPr>
            <a:r>
              <a:t>Real-time visualization and user feedback → Complete in &lt;2 seconds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376E"/>
                </a:solidFill>
              </a:defRPr>
            </a:pPr>
            <a:r>
              <a:t>SYSTEM PERFORMANCE &amp;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800"/>
              </a:spcBef>
              <a:defRPr sz="1500" b="1">
                <a:solidFill>
                  <a:srgbClr val="4F81BD"/>
                </a:solidFill>
              </a:defRPr>
            </a:pPr>
            <a:r>
              <a:t>📊 Model Accuracy</a:t>
            </a:r>
          </a:p>
          <a:p>
            <a:pPr lvl="1">
              <a:spcBef>
                <a:spcPts val="200"/>
              </a:spcBef>
              <a:defRPr sz="1200">
                <a:solidFill>
                  <a:srgbClr val="333333"/>
                </a:solidFill>
              </a:defRPr>
            </a:pPr>
            <a:r>
              <a:t>SVM: 97.5% ⭐ (Primary)</a:t>
            </a:r>
          </a:p>
          <a:p>
            <a:pPr lvl="1">
              <a:spcBef>
                <a:spcPts val="200"/>
              </a:spcBef>
              <a:defRPr sz="1200">
                <a:solidFill>
                  <a:srgbClr val="333333"/>
                </a:solidFill>
              </a:defRPr>
            </a:pPr>
            <a:r>
              <a:t>CNN: 95.2%</a:t>
            </a:r>
          </a:p>
          <a:p>
            <a:pPr lvl="1">
              <a:spcBef>
                <a:spcPts val="200"/>
              </a:spcBef>
              <a:defRPr sz="1200">
                <a:solidFill>
                  <a:srgbClr val="333333"/>
                </a:solidFill>
              </a:defRPr>
            </a:pPr>
            <a:r>
              <a:t>LSTM: 94.8%</a:t>
            </a:r>
          </a:p>
          <a:p>
            <a:pPr>
              <a:spcBef>
                <a:spcPts val="800"/>
              </a:spcBef>
              <a:defRPr sz="1500" b="1">
                <a:solidFill>
                  <a:srgbClr val="4F81BD"/>
                </a:solidFill>
              </a:defRPr>
            </a:pPr>
            <a:r>
              <a:t>📊 Processing Performance</a:t>
            </a:r>
          </a:p>
          <a:p>
            <a:pPr lvl="1">
              <a:spcBef>
                <a:spcPts val="200"/>
              </a:spcBef>
              <a:defRPr sz="1200">
                <a:solidFill>
                  <a:srgbClr val="333333"/>
                </a:solidFill>
              </a:defRPr>
            </a:pPr>
            <a:r>
              <a:t>Feature Extraction: 500-800ms</a:t>
            </a:r>
          </a:p>
          <a:p>
            <a:pPr lvl="1">
              <a:spcBef>
                <a:spcPts val="200"/>
              </a:spcBef>
              <a:defRPr sz="1200">
                <a:solidFill>
                  <a:srgbClr val="333333"/>
                </a:solidFill>
              </a:defRPr>
            </a:pPr>
            <a:r>
              <a:t>ML Prediction: 100-200ms</a:t>
            </a:r>
          </a:p>
          <a:p>
            <a:pPr lvl="1">
              <a:spcBef>
                <a:spcPts val="200"/>
              </a:spcBef>
              <a:defRPr sz="1200">
                <a:solidFill>
                  <a:srgbClr val="333333"/>
                </a:solidFill>
              </a:defRPr>
            </a:pPr>
            <a:r>
              <a:t>Total Verification: &lt;2 seconds</a:t>
            </a:r>
          </a:p>
          <a:p>
            <a:pPr>
              <a:spcBef>
                <a:spcPts val="800"/>
              </a:spcBef>
              <a:defRPr sz="1500" b="1">
                <a:solidFill>
                  <a:srgbClr val="4F81BD"/>
                </a:solidFill>
              </a:defRPr>
            </a:pPr>
            <a:r>
              <a:t>📊 System Scalability</a:t>
            </a:r>
          </a:p>
          <a:p>
            <a:pPr lvl="1">
              <a:spcBef>
                <a:spcPts val="200"/>
              </a:spcBef>
              <a:defRPr sz="1200">
                <a:solidFill>
                  <a:srgbClr val="333333"/>
                </a:solidFill>
              </a:defRPr>
            </a:pPr>
            <a:r>
              <a:t>Users supported: 1000+</a:t>
            </a:r>
          </a:p>
          <a:p>
            <a:pPr lvl="1">
              <a:spcBef>
                <a:spcPts val="200"/>
              </a:spcBef>
              <a:defRPr sz="1200">
                <a:solidFill>
                  <a:srgbClr val="333333"/>
                </a:solidFill>
              </a:defRPr>
            </a:pPr>
            <a:r>
              <a:t>Database size (1000 users): &lt;10MB</a:t>
            </a:r>
          </a:p>
          <a:p>
            <a:pPr lvl="1">
              <a:spcBef>
                <a:spcPts val="200"/>
              </a:spcBef>
              <a:defRPr sz="1200">
                <a:solidFill>
                  <a:srgbClr val="333333"/>
                </a:solidFill>
              </a:defRPr>
            </a:pPr>
            <a:r>
              <a:t>Concurrent users: 50+ simultaneous</a:t>
            </a:r>
          </a:p>
          <a:p>
            <a:pPr>
              <a:spcBef>
                <a:spcPts val="800"/>
              </a:spcBef>
              <a:defRPr sz="1500" b="1">
                <a:solidFill>
                  <a:srgbClr val="4F81BD"/>
                </a:solidFill>
              </a:defRPr>
            </a:pPr>
            <a:r>
              <a:t>📊 Mental State Detection</a:t>
            </a:r>
          </a:p>
          <a:p>
            <a:pPr lvl="1">
              <a:spcBef>
                <a:spcPts val="200"/>
              </a:spcBef>
              <a:defRPr sz="1200">
                <a:solidFill>
                  <a:srgbClr val="333333"/>
                </a:solidFill>
              </a:defRPr>
            </a:pPr>
            <a:r>
              <a:t>Accuracy: 82-88% (4-class)</a:t>
            </a:r>
          </a:p>
          <a:p>
            <a:pPr lvl="1">
              <a:spcBef>
                <a:spcPts val="200"/>
              </a:spcBef>
              <a:defRPr sz="1200">
                <a:solidFill>
                  <a:srgbClr val="333333"/>
                </a:solidFill>
              </a:defRPr>
            </a:pPr>
            <a:r>
              <a:t>Processing: Real-time</a:t>
            </a:r>
          </a:p>
          <a:p>
            <a:pPr lvl="1">
              <a:spcBef>
                <a:spcPts val="200"/>
              </a:spcBef>
              <a:defRPr sz="1200">
                <a:solidFill>
                  <a:srgbClr val="333333"/>
                </a:solidFill>
              </a:defRPr>
            </a:pPr>
            <a:r>
              <a:t>States: Calm, Stressed, Anxious, Fatigued</a:t>
            </a:r>
          </a:p>
          <a:p>
            <a:pPr>
              <a:spcBef>
                <a:spcPts val="800"/>
              </a:spcBef>
              <a:defRPr sz="1500" b="1">
                <a:solidFill>
                  <a:srgbClr val="4F81BD"/>
                </a:solidFill>
              </a:defRPr>
            </a:pPr>
            <a:r>
              <a:t>📊 Voice Aging</a:t>
            </a:r>
          </a:p>
          <a:p>
            <a:pPr lvl="1">
              <a:spcBef>
                <a:spcPts val="200"/>
              </a:spcBef>
              <a:defRPr sz="1200">
                <a:solidFill>
                  <a:srgbClr val="333333"/>
                </a:solidFill>
              </a:defRPr>
            </a:pPr>
            <a:r>
              <a:t>Accuracy maintenance: &gt;90% over 12 months</a:t>
            </a:r>
          </a:p>
          <a:p>
            <a:pPr lvl="1">
              <a:spcBef>
                <a:spcPts val="200"/>
              </a:spcBef>
              <a:defRPr sz="1200">
                <a:solidFill>
                  <a:srgbClr val="333333"/>
                </a:solidFill>
              </a:defRPr>
            </a:pPr>
            <a:r>
              <a:t>Adaptation time: 6+ months for EMA</a:t>
            </a:r>
          </a:p>
          <a:p>
            <a:pPr lvl="1">
              <a:spcBef>
                <a:spcPts val="200"/>
              </a:spcBef>
              <a:defRPr sz="1200">
                <a:solidFill>
                  <a:srgbClr val="333333"/>
                </a:solidFill>
              </a:defRPr>
            </a:pPr>
            <a:r>
              <a:t>False acceptance rate: &lt;2%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7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73152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6600" b="1">
                <a:solidFill>
                  <a:srgbClr val="00B050"/>
                </a:solidFill>
              </a:defRPr>
            </a:pPr>
            <a:r>
              <a:rPr dirty="0"/>
              <a:t>THANK YOU</a:t>
            </a:r>
          </a:p>
          <a:p>
            <a:br>
              <a:rPr dirty="0"/>
            </a:br>
            <a:r>
              <a:rPr dirty="0"/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925</Words>
  <Application>Microsoft Office PowerPoint</Application>
  <PresentationFormat>On-screen Show (4:3)</PresentationFormat>
  <Paragraphs>176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MOHAMMAD HASAN</cp:lastModifiedBy>
  <cp:revision>3</cp:revision>
  <dcterms:created xsi:type="dcterms:W3CDTF">2013-01-27T09:14:16Z</dcterms:created>
  <dcterms:modified xsi:type="dcterms:W3CDTF">2026-01-20T01:56:49Z</dcterms:modified>
  <cp:category/>
</cp:coreProperties>
</file>